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76" r:id="rId14"/>
    <p:sldId id="277" r:id="rId15"/>
    <p:sldId id="280" r:id="rId16"/>
    <p:sldId id="278" r:id="rId17"/>
    <p:sldId id="27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716"/>
  </p:normalViewPr>
  <p:slideViewPr>
    <p:cSldViewPr snapToGrid="0" snapToObjects="1">
      <p:cViewPr varScale="1">
        <p:scale>
          <a:sx n="82" d="100"/>
          <a:sy n="82" d="100"/>
        </p:scale>
        <p:origin x="150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Data Ethics and Visualization Ethics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9500" y="4343400"/>
            <a:ext cx="6985000" cy="1752600"/>
          </a:xfrm>
        </p:spPr>
        <p:txBody>
          <a:bodyPr>
            <a:normAutofit/>
          </a:bodyPr>
          <a:lstStyle/>
          <a:p>
            <a:r>
              <a:rPr lang="en-US" dirty="0"/>
              <a:t>Part of the lecture series for the course </a:t>
            </a:r>
            <a:br>
              <a:rPr lang="en-US" dirty="0"/>
            </a:br>
            <a:r>
              <a:rPr lang="en-US" dirty="0"/>
              <a:t>23CSE353 Data Visualization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Define data ethics and visualization ethics</a:t>
            </a:r>
          </a:p>
          <a:p>
            <a:r>
              <a:t>Identify ethical issues across the data lifecycle</a:t>
            </a:r>
          </a:p>
          <a:p>
            <a:r>
              <a:t>Recognize misleading visualization practices</a:t>
            </a:r>
          </a:p>
          <a:p>
            <a:r>
              <a:t>Apply ethical frameworks to design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Ethics Matter in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Ethical lapses in data science can cause societal harm and loss of trust.</a:t>
            </a:r>
          </a:p>
          <a:p>
            <a:r>
              <a:t>Examples: Cambridge Analytica, biased predictive policing.</a:t>
            </a:r>
          </a:p>
          <a:p>
            <a:r>
              <a:t>Ethics guide responsible use of data and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Foundations of Data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Core principles: Fairness, Accountability, Transparency, Privacy.</a:t>
            </a:r>
          </a:p>
          <a:p>
            <a:r>
              <a:t>Frameworks: Belmont Report, Responsible Data Science Principles, EU AI Ethics Guidelines.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Ethical Issues Across the Data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Collection → Processing → Analysis → Visualization.</a:t>
            </a:r>
          </a:p>
          <a:p>
            <a:r>
              <a:t>Common issues: bias, consent, manipulation, privacy breaches.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and Fairness in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Bias arises from sampling, measurement, and algorithmic design.</a:t>
            </a:r>
          </a:p>
          <a:p>
            <a:r>
              <a:t>Example: facial recognition systems misidentifying minorities.</a:t>
            </a:r>
          </a:p>
          <a:p>
            <a:r>
              <a:t>Mitigation: diverse datasets, fairness audits, transparency.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 and Consent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Ensure informed consent during data collection.</a:t>
            </a:r>
          </a:p>
          <a:p>
            <a:r>
              <a:t>Use anonymization and secure data storage.</a:t>
            </a:r>
          </a:p>
          <a:p>
            <a:r>
              <a:t>Respect user privacy and data minimization principles.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Accountability and Transparency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Communicate data sources and limitations.</a:t>
            </a:r>
          </a:p>
          <a:p>
            <a:r>
              <a:t>Enable reproducibility and explainability.</a:t>
            </a:r>
          </a:p>
          <a:p>
            <a:r>
              <a:t>Document ethical reasoning and design choices.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From Data Ethics to Visualization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Ethics extend beyond analysis—visualization shapes how audiences perceive truth.</a:t>
            </a:r>
            <a:endParaRPr lang="en-US" dirty="0"/>
          </a:p>
          <a:p>
            <a:r>
              <a:rPr lang="en-IN" b="1" dirty="0"/>
              <a:t>Visualization ethics </a:t>
            </a:r>
            <a:r>
              <a:rPr lang="en-IN" dirty="0"/>
              <a:t>focus on truthfulness, clarity, proportionality, and inclusivity.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Misleading Visuals and Cognitive Biases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Examples: truncated axes, cherry-picked data, distorted scales.</a:t>
            </a:r>
          </a:p>
          <a:p>
            <a:r>
              <a:t>Deceptive encodings exploit perceptual biases.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Guidelines for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Show the whole picture and maintain proportionality.</a:t>
            </a:r>
          </a:p>
          <a:p>
            <a:r>
              <a:t>Use fair comparisons and avoid distortion.</a:t>
            </a:r>
          </a:p>
          <a:p>
            <a:r>
              <a:t>Clearly label and cite data sources.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Case Study 1: Misleading Chart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Original: Truncated y-axis exaggerating growth.</a:t>
            </a:r>
          </a:p>
          <a:p>
            <a:r>
              <a:t>Correction: Full-scale axis shows moderate growth.</a:t>
            </a:r>
          </a:p>
          <a:p>
            <a:r>
              <a:t>Lesson: Always preserve visual honesty.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5A1E5B-4297-AF44-72A4-A7841F5E8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263" y="-472270"/>
            <a:ext cx="7634200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 1</a:t>
            </a: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A4C95955-81E9-3688-A9C6-341501390B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79526CDD-69B6-A2EB-239A-7A420FAD39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8">
            <a:extLst>
              <a:ext uri="{FF2B5EF4-FFF2-40B4-BE49-F238E27FC236}">
                <a16:creationId xmlns:a16="http://schemas.microsoft.com/office/drawing/2014/main" id="{DBD01E7D-9FE1-416B-CD1A-420AFB437E6F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" name="AutoShape 10">
            <a:extLst>
              <a:ext uri="{FF2B5EF4-FFF2-40B4-BE49-F238E27FC236}">
                <a16:creationId xmlns:a16="http://schemas.microsoft.com/office/drawing/2014/main" id="{9FC9D350-81CD-4544-3003-7FD90A7423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AutoShape 12">
            <a:extLst>
              <a:ext uri="{FF2B5EF4-FFF2-40B4-BE49-F238E27FC236}">
                <a16:creationId xmlns:a16="http://schemas.microsoft.com/office/drawing/2014/main" id="{1001F8CE-F724-EFCD-B425-4E14C7A66A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14">
            <a:extLst>
              <a:ext uri="{FF2B5EF4-FFF2-40B4-BE49-F238E27FC236}">
                <a16:creationId xmlns:a16="http://schemas.microsoft.com/office/drawing/2014/main" id="{C7E70709-687E-7F32-8049-CA1A1BB86A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29200" y="3886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41AC326-8C07-214B-B0E1-D507C6F4C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9" y="1417088"/>
            <a:ext cx="4584700" cy="52197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10D00A7-20E4-42EA-1846-866C6F43A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663" y="1416050"/>
            <a:ext cx="458470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567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3E966-5BBA-C335-D7BD-E9468BD70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3343"/>
            <a:ext cx="8229600" cy="1143000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E618375-FA9B-C0DA-A0A8-318598B1B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B5302E-A138-1EBA-EE28-FEAE4F94E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650" y="1350962"/>
            <a:ext cx="45847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164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BD7E8-E9ED-A0FF-804A-F85805755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3DD20-B17F-21BF-8595-D0F96ADE6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748E36-B7B5-28EA-B627-A5E5E4A14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1266031"/>
            <a:ext cx="7632700" cy="519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15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32CED-B80C-FD8C-B741-D60692A6F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0"/>
            <a:ext cx="818223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dirty="0"/>
              <a:t>Example 3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B89B20C-381E-0CC0-35AB-672F4D50E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6BEB88-1B23-7245-7B07-A7B5F5DBA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925" y="1069181"/>
            <a:ext cx="6108700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229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67115AB-AD7D-0946-4A27-B6D52B2C6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4771E-9767-092B-F404-9DFCD2481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885" y="-278343"/>
            <a:ext cx="818223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dirty="0"/>
              <a:t>Example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3D7AFD-1ED3-1812-C4CF-17A7CCAFD7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86472" y="1090271"/>
            <a:ext cx="6171056" cy="567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194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334</Words>
  <Application>Microsoft Macintosh PowerPoint</Application>
  <PresentationFormat>On-screen Show (4:3)</PresentationFormat>
  <Paragraphs>58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Data Ethics and Visualization Ethics</vt:lpstr>
      <vt:lpstr>Learning Objectives</vt:lpstr>
      <vt:lpstr>Why Ethics Matter in Data Science</vt:lpstr>
      <vt:lpstr>Foundations of Data Ethics</vt:lpstr>
      <vt:lpstr>Ethical Issues Across the Data Lifecycle</vt:lpstr>
      <vt:lpstr>Bias and Fairness in Data</vt:lpstr>
      <vt:lpstr>Privacy and Consent</vt:lpstr>
      <vt:lpstr>Accountability and Transparency</vt:lpstr>
      <vt:lpstr>From Data Ethics to Visualization Ethics</vt:lpstr>
      <vt:lpstr>Misleading Visuals and Cognitive Biases</vt:lpstr>
      <vt:lpstr>Ethical Guidelines for Visualization</vt:lpstr>
      <vt:lpstr>Case Study 1: Misleading Chart Correction</vt:lpstr>
      <vt:lpstr>Example 1</vt:lpstr>
      <vt:lpstr>Example 2</vt:lpstr>
      <vt:lpstr>Example 2</vt:lpstr>
      <vt:lpstr>Example 3</vt:lpstr>
      <vt:lpstr>Example 3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Dayanand Vinod</cp:lastModifiedBy>
  <cp:revision>7</cp:revision>
  <dcterms:created xsi:type="dcterms:W3CDTF">2013-01-27T09:14:16Z</dcterms:created>
  <dcterms:modified xsi:type="dcterms:W3CDTF">2025-10-07T06:55:27Z</dcterms:modified>
  <cp:category/>
</cp:coreProperties>
</file>